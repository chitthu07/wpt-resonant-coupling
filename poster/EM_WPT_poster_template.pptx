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42803064" cy="3027578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20" d="100"/>
          <a:sy n="20" d="100"/>
        </p:scale>
        <p:origin x="-1512" y="-112"/>
      </p:cViewPr>
      <p:guideLst>
        <p:guide pos="432"/>
        <p:guide pos="9072"/>
        <p:guide pos="9504"/>
        <p:guide pos="18144"/>
        <p:guide pos="18576"/>
        <p:guide pos="27216"/>
        <p:guide orient="horz" pos="432"/>
        <p:guide orient="horz" pos="3312"/>
        <p:guide orient="horz" pos="3744"/>
        <p:guide orient="horz" pos="2030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block"/>
          <p:cNvSpPr/>
          <p:nvPr/>
        </p:nvSpPr>
        <p:spPr>
          <a:xfrm>
            <a:off x="668797" y="630745"/>
            <a:ext cx="41465468" cy="420497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QR code (optional, B-P2)"/>
          <p:cNvSpPr/>
          <p:nvPr/>
        </p:nvSpPr>
        <p:spPr>
          <a:xfrm>
            <a:off x="38121478" y="1051242"/>
            <a:ext cx="3566922" cy="3363976"/>
          </a:xfrm>
          <a:prstGeom prst="rect">
            <a:avLst/>
          </a:prstGeom>
          <a:noFill/>
          <a:ln w="25400">
            <a:solidFill>
              <a:srgbClr val="CADCF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spcAft>
                <a:spcPts val="600"/>
              </a:spcAft>
            </a:pPr>
            <a:r>
              <a:rPr sz="2400" b="0" i="0">
                <a:solidFill>
                  <a:srgbClr val="CADCFC"/>
                </a:solidFill>
                <a:latin typeface="Calibri"/>
              </a:rPr>
              <a:t>QR code</a:t>
            </a:r>
          </a:p>
          <a:p>
            <a:pPr algn="ctr">
              <a:spcAft>
                <a:spcPts val="600"/>
              </a:spcAft>
            </a:pPr>
            <a:r>
              <a:rPr sz="2400" b="0" i="0">
                <a:solidFill>
                  <a:srgbClr val="CADCFC"/>
                </a:solidFill>
                <a:latin typeface="Calibri"/>
              </a:rPr>
              <a:t>(optional, B-P2)</a:t>
            </a:r>
          </a:p>
        </p:txBody>
      </p:sp>
      <p:sp>
        <p:nvSpPr>
          <p:cNvPr id="5" name="Title, authors, affiliation"/>
          <p:cNvSpPr txBox="1"/>
          <p:nvPr/>
        </p:nvSpPr>
        <p:spPr>
          <a:xfrm>
            <a:off x="5127450" y="925093"/>
            <a:ext cx="32548163" cy="36162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1000"/>
              </a:spcAft>
            </a:pPr>
            <a:r>
              <a:rPr sz="8000" b="1" i="0">
                <a:solidFill>
                  <a:srgbClr val="FFFFFF"/>
                </a:solidFill>
                <a:latin typeface="Cambria"/>
              </a:rPr>
              <a:t>Wireless Power by Resonant Magnetic Coupling</a:t>
            </a:r>
          </a:p>
          <a:p>
            <a:pPr algn="ctr">
              <a:spcAft>
                <a:spcPts val="8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Chittharanjan S  ·  Deekshitha R  ·  Dani Firas Payyanakadavan</a:t>
            </a:r>
          </a:p>
          <a:p>
            <a:pPr algn="ctr">
              <a:spcAft>
                <a:spcPts val="0"/>
              </a:spcAft>
            </a:pPr>
            <a:r>
              <a:rPr sz="3600" b="0" i="0">
                <a:solidFill>
                  <a:srgbClr val="CADCFC"/>
                </a:solidFill>
                <a:latin typeface="Calibri"/>
              </a:rPr>
              <a:t>Department of Electrical Engineering, IIT Madras  ·  EE2025 Engineering Electromagnetics</a:t>
            </a:r>
          </a:p>
        </p:txBody>
      </p:sp>
      <p:sp>
        <p:nvSpPr>
          <p:cNvPr id="6" name="S2 Executive Summary panel"/>
          <p:cNvSpPr/>
          <p:nvPr/>
        </p:nvSpPr>
        <p:spPr>
          <a:xfrm>
            <a:off x="668797" y="5466461"/>
            <a:ext cx="13375957" cy="7148449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S2 Executive Summary heading"/>
          <p:cNvSpPr txBox="1"/>
          <p:nvPr/>
        </p:nvSpPr>
        <p:spPr>
          <a:xfrm>
            <a:off x="1025490" y="5718759"/>
            <a:ext cx="12662573" cy="756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9B1D3A"/>
                </a:solidFill>
                <a:latin typeface="Cambria"/>
              </a:rPr>
              <a:t>2  </a:t>
            </a:r>
            <a:r>
              <a:rPr sz="4400" b="1" i="0">
                <a:solidFill>
                  <a:srgbClr val="1B2A4A"/>
                </a:solidFill>
                <a:latin typeface="Cambria"/>
              </a:rPr>
              <a:t>Executive Summary</a:t>
            </a:r>
          </a:p>
        </p:txBody>
      </p:sp>
      <p:sp>
        <p:nvSpPr>
          <p:cNvPr id="8" name="S2 body"/>
          <p:cNvSpPr txBox="1"/>
          <p:nvPr/>
        </p:nvSpPr>
        <p:spPr>
          <a:xfrm>
            <a:off x="1025490" y="6685902"/>
            <a:ext cx="12662573" cy="559261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400"/>
              </a:lnSpc>
              <a:spcBef>
                <a:spcPts val="0"/>
              </a:spcBef>
              <a:spcAft>
                <a:spcPts val="800"/>
              </a:spcAft>
            </a:pPr>
            <a:r>
              <a:rPr sz="2800" b="0" i="0">
                <a:solidFill>
                  <a:srgbClr val="1A1A1A"/>
                </a:solidFill>
                <a:latin typeface="Calibri"/>
              </a:rPr>
              <a:t>Two identical 10-turn, 10 cm air-core spiral coils, series-tuned to 500 kHz, transfer power across a 1–10 cm gap with no wire between them. At 500 kHz the wavelength is 600 m, so the coils interact through the reactive near field: primary current creates a magnetic field (Ampère), part of its flux links the secondary (mutual inductance </a:t>
            </a:r>
            <a:r>
              <a:rPr sz="28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800" b="0" i="0">
                <a:solidFill>
                  <a:srgbClr val="1A1A1A"/>
                </a:solidFill>
                <a:latin typeface="Calibri"/>
              </a:rPr>
              <a:t>), and Faraday's law induces the secondary voltage. Resonance cancels the coil reactance, so performance is set by coupling </a:t>
            </a:r>
            <a:r>
              <a:rPr sz="28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800" b="0" i="0">
                <a:solidFill>
                  <a:srgbClr val="1A1A1A"/>
                </a:solidFill>
                <a:latin typeface="Calibri"/>
              </a:rPr>
              <a:t> and quality factor </a:t>
            </a:r>
            <a:r>
              <a:rPr sz="28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2800" b="0" i="0">
                <a:solidFill>
                  <a:srgbClr val="1A1A1A"/>
                </a:solidFill>
                <a:latin typeface="Calibri"/>
              </a:rPr>
              <a:t> = 118.3. A Neumann-integral model gives </a:t>
            </a:r>
            <a:r>
              <a:rPr sz="28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800" b="0" i="0">
                <a:solidFill>
                  <a:srgbClr val="1A1A1A"/>
                </a:solidFill>
                <a:latin typeface="Calibri"/>
              </a:rPr>
              <a:t> falling from 0.51 at 1 cm to 0.030 at 10 cm. A phasor circuit model, confirmed by closed-form theory and LTspice, predicts maximum efficiencies of 97 % at 1 cm, 86 % at 5 cm and 57 % at 10 cm. With the 6 Ω load (optimal at 5 cm), delivered power peaks at critical coupling (6.4 W near 9.75 cm), not where efficiency is highest. All results are analytical and simulated.</a:t>
            </a:r>
          </a:p>
        </p:txBody>
      </p:sp>
      <p:sp>
        <p:nvSpPr>
          <p:cNvPr id="9" name="S3 Physical Concept panel"/>
          <p:cNvSpPr/>
          <p:nvPr/>
        </p:nvSpPr>
        <p:spPr>
          <a:xfrm>
            <a:off x="668797" y="13035407"/>
            <a:ext cx="13375957" cy="16609631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3 Physical Concept heading"/>
          <p:cNvSpPr txBox="1"/>
          <p:nvPr/>
        </p:nvSpPr>
        <p:spPr>
          <a:xfrm>
            <a:off x="1025490" y="13287705"/>
            <a:ext cx="12662573" cy="756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9B1D3A"/>
                </a:solidFill>
                <a:latin typeface="Cambria"/>
              </a:rPr>
              <a:t>3  </a:t>
            </a:r>
            <a:r>
              <a:rPr sz="4400" b="1" i="0">
                <a:solidFill>
                  <a:srgbClr val="1B2A4A"/>
                </a:solidFill>
                <a:latin typeface="Cambria"/>
              </a:rPr>
              <a:t>The Physical Concept</a:t>
            </a:r>
          </a:p>
        </p:txBody>
      </p:sp>
      <p:sp>
        <p:nvSpPr>
          <p:cNvPr id="11" name="S3 body"/>
          <p:cNvSpPr txBox="1"/>
          <p:nvPr/>
        </p:nvSpPr>
        <p:spPr>
          <a:xfrm>
            <a:off x="1025490" y="14254848"/>
            <a:ext cx="12662573" cy="639155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ts val="3400"/>
              </a:lnSpc>
              <a:spcBef>
                <a:spcPts val="0"/>
              </a:spcBef>
              <a:spcAft>
                <a:spcPts val="800"/>
              </a:spcAft>
            </a:pPr>
            <a:r>
              <a:rPr sz="2800" i="0" b="1">
                <a:solidFill>
                  <a:srgbClr val="1B2A4A"/>
                </a:solidFill>
                <a:latin typeface="Calibri"/>
              </a:rPr>
              <a:t>Why it matters. </a:t>
            </a:r>
            <a:r>
              <a:rPr sz="2800" i="0" b="0">
                <a:solidFill>
                  <a:srgbClr val="1A1A1A"/>
                </a:solidFill>
                <a:latin typeface="Calibri"/>
              </a:rPr>
              <a:t>Wireless charging already powers phones, toothbrushes and medical implants, and is being scaled up for electric vehicles. With no plugs or contacts, a device can be sealed, waterproof, or inside the body. We study the core of it: two identical 10 cm coils, 1 to 10 cm apart, at 500 kHz.</a:t>
            </a:r>
          </a:p>
          <a:p>
            <a:pPr marL="0" indent="0">
              <a:lnSpc>
                <a:spcPts val="3400"/>
              </a:lnSpc>
              <a:spcBef>
                <a:spcPts val="0"/>
              </a:spcBef>
              <a:spcAft>
                <a:spcPts val="800"/>
              </a:spcAft>
            </a:pPr>
            <a:r>
              <a:rPr sz="2800" i="0" b="1">
                <a:solidFill>
                  <a:srgbClr val="1B2A4A"/>
                </a:solidFill>
                <a:latin typeface="Calibri"/>
              </a:rPr>
              <a:t>How it works. </a:t>
            </a:r>
            <a:r>
              <a:rPr sz="2800" i="0" b="0">
                <a:solidFill>
                  <a:srgbClr val="1A1A1A"/>
                </a:solidFill>
                <a:latin typeface="Calibri"/>
              </a:rPr>
              <a:t>An alternating current in coil 1 makes a magnetic field. Part of that field passes through coil 2 and, because it changes, induces a voltage there (Faraday's law). A capacitor in series with each coil makes it resonate: energy sloshes between the coil's magnetic field and the capacitor's electric field, so a small drive builds a large current. Both coils are tuned to the same </a:t>
            </a:r>
            <a:r>
              <a:rPr sz="28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8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2800" i="0" b="0">
                <a:solidFill>
                  <a:srgbClr val="1A1A1A"/>
                </a:solidFill>
                <a:latin typeface="Calibri"/>
              </a:rPr>
              <a:t>, so energy passes from one to the other and the load </a:t>
            </a:r>
            <a:r>
              <a:rPr sz="28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8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800" i="0" b="0">
                <a:solidFill>
                  <a:srgbClr val="1A1A1A"/>
                </a:solidFill>
                <a:latin typeface="Calibri"/>
              </a:rPr>
              <a:t> takes it out.</a:t>
            </a:r>
          </a:p>
          <a:p>
            <a:pPr marL="0" indent="0">
              <a:lnSpc>
                <a:spcPts val="3400"/>
              </a:lnSpc>
              <a:spcBef>
                <a:spcPts val="0"/>
              </a:spcBef>
              <a:spcAft>
                <a:spcPts val="800"/>
              </a:spcAft>
            </a:pPr>
            <a:r>
              <a:rPr sz="2800" i="0" b="1">
                <a:solidFill>
                  <a:srgbClr val="1B2A4A"/>
                </a:solidFill>
                <a:latin typeface="Calibri"/>
              </a:rPr>
              <a:t>Why it is short range. </a:t>
            </a:r>
            <a:r>
              <a:rPr sz="2800" i="0" b="0">
                <a:solidFill>
                  <a:srgbClr val="1A1A1A"/>
                </a:solidFill>
                <a:latin typeface="Calibri"/>
              </a:rPr>
              <a:t>Each coil is 1/6000 of the 600 m wavelength, so it hardly radiates: the field is stored close to the coils. The coupling </a:t>
            </a:r>
            <a:r>
              <a:rPr sz="28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800" i="0" b="0">
                <a:solidFill>
                  <a:srgbClr val="1A1A1A"/>
                </a:solidFill>
                <a:latin typeface="Calibri"/>
              </a:rPr>
              <a:t> falls from 0.51 at 1 cm to 0.03 at 10 cm, and like </a:t>
            </a:r>
            <a:r>
              <a:rPr sz="28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1/</a:t>
            </a:r>
            <a:r>
              <a:rPr sz="28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8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3</a:t>
            </a:r>
            <a:r>
              <a:rPr sz="2800" i="0" b="0">
                <a:solidFill>
                  <a:srgbClr val="1A1A1A"/>
                </a:solidFill>
                <a:latin typeface="Calibri"/>
              </a:rPr>
              <a:t> further out.</a:t>
            </a:r>
          </a:p>
        </p:txBody>
      </p:sp>
      <p:sp>
        <p:nvSpPr>
          <p:cNvPr id="13" name="S3 caption"/>
          <p:cNvSpPr txBox="1"/>
          <p:nvPr/>
        </p:nvSpPr>
        <p:spPr>
          <a:xfrm>
            <a:off x="1025490" y="28215347"/>
            <a:ext cx="12662573" cy="7148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0" indent="0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i="0" b="0">
                <a:solidFill>
                  <a:srgbClr val="1A1A1A"/>
                </a:solidFill>
                <a:latin typeface="Calibri"/>
              </a:rPr>
              <a:t>Left: field lines of coil 1, computed for our coils at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 = 3 cm; wine lines thread coil 2 and set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. Right: the series-series circuit.</a:t>
            </a:r>
          </a:p>
        </p:txBody>
      </p:sp>
      <p:sp>
        <p:nvSpPr>
          <p:cNvPr id="14" name="S4 Governing EM Physics panel"/>
          <p:cNvSpPr/>
          <p:nvPr/>
        </p:nvSpPr>
        <p:spPr>
          <a:xfrm>
            <a:off x="14713553" y="5466461"/>
            <a:ext cx="13375957" cy="11673459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4 Governing EM Physics heading"/>
          <p:cNvSpPr txBox="1"/>
          <p:nvPr/>
        </p:nvSpPr>
        <p:spPr>
          <a:xfrm>
            <a:off x="15070244" y="5718759"/>
            <a:ext cx="12662573" cy="756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9B1D3A"/>
                </a:solidFill>
                <a:latin typeface="Cambria"/>
              </a:rPr>
              <a:t>4  </a:t>
            </a:r>
            <a:r>
              <a:rPr sz="4400" b="1" i="0">
                <a:solidFill>
                  <a:srgbClr val="1B2A4A"/>
                </a:solidFill>
                <a:latin typeface="Cambria"/>
              </a:rPr>
              <a:t>Governing EM Physics</a:t>
            </a:r>
          </a:p>
        </p:txBody>
      </p:sp>
      <p:sp>
        <p:nvSpPr>
          <p:cNvPr id="16" name="S4 equations"/>
          <p:cNvSpPr txBox="1"/>
          <p:nvPr/>
        </p:nvSpPr>
        <p:spPr>
          <a:xfrm>
            <a:off x="15070244" y="6685902"/>
            <a:ext cx="12662573" cy="101176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9B1D3A"/>
                </a:solidFill>
                <a:latin typeface="Cambria Math"/>
                <a:ea typeface="Cambria Math"/>
                <a:cs typeface="Cambria Math"/>
              </a:rPr>
              <a:t>(1)	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∇ × 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H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∂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/∂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≈ 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     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ωa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c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≈ 5 × 10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−4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1B2A4A"/>
                </a:solidFill>
                <a:latin typeface="Calibri"/>
              </a:rPr>
              <a:t>Ampère, quasi-static: 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the coil is 1/6000 of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λ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 = 600 m, so displacement current is negligible.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9B1D3A"/>
                </a:solidFill>
                <a:latin typeface="Cambria Math"/>
                <a:ea typeface="Cambria Math"/>
                <a:cs typeface="Cambria Math"/>
              </a:rPr>
              <a:t>(2)	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∮ 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·d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−dΦ/d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  ⇒ 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−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jωM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1B2A4A"/>
                </a:solidFill>
                <a:latin typeface="Calibri"/>
              </a:rPr>
              <a:t>Faraday: 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the changing shared flux induces the EMF that drives coil 2.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9B1D3A"/>
                </a:solidFill>
                <a:latin typeface="Cambria Math"/>
                <a:ea typeface="Cambria Math"/>
                <a:cs typeface="Cambria Math"/>
              </a:rPr>
              <a:t>(3)	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3200" i="1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μ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NIa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/ [2(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3/2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]</a:t>
            </a:r>
          </a:p>
          <a:p>
            <a:pPr marL="68580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Φ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21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μ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/4π) ∮∮ d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·d</a:t>
            </a:r>
            <a:r>
              <a:rPr sz="32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/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1B2A4A"/>
                </a:solidFill>
                <a:latin typeface="Calibri"/>
              </a:rPr>
              <a:t>Biot–Savart, Neumann: 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flux of coil 1 through coil 2 per amp. Pure geometry;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12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21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9B1D3A"/>
                </a:solidFill>
                <a:latin typeface="Cambria Math"/>
                <a:ea typeface="Cambria Math"/>
                <a:cs typeface="Cambria Math"/>
              </a:rPr>
              <a:t>(4)	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/√(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),   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∝ 1/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3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 for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≫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1B2A4A"/>
                </a:solidFill>
                <a:latin typeface="Calibri"/>
              </a:rPr>
              <a:t>Coupling: 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ours is 0.513, 0.111, 0.030 at 1, 5, 10 cm; 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1/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3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 only for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 ≳ 4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9B1D3A"/>
                </a:solidFill>
                <a:latin typeface="Cambria Math"/>
                <a:ea typeface="Cambria Math"/>
                <a:cs typeface="Cambria Math"/>
              </a:rPr>
              <a:t>(5)	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1/(2π√(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LC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)),  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ω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,  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±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/√(1 ±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1B2A4A"/>
                </a:solidFill>
                <a:latin typeface="Calibri"/>
              </a:rPr>
              <a:t>Resonance: 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17.13 µH, 5.915 nF → 500 kHz;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 = 118.3 at 0.455 Ω. Strong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 splits the peak.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9B1D3A"/>
                </a:solidFill>
                <a:latin typeface="Cambria Math"/>
                <a:ea typeface="Cambria Math"/>
                <a:cs typeface="Cambria Math"/>
              </a:rPr>
              <a:t>(6)	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jωM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s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,   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jωM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0</a:t>
            </a:r>
          </a:p>
          <a:p>
            <a:pPr marL="685800" indent="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in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ω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/(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    at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1B2A4A"/>
                </a:solidFill>
                <a:latin typeface="Calibri"/>
              </a:rPr>
              <a:t>Circuit, Poynting: 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at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W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W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e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 in each coil, so the source sees only resistance.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9B1D3A"/>
                </a:solidFill>
                <a:latin typeface="Cambria Math"/>
                <a:ea typeface="Cambria Math"/>
                <a:cs typeface="Cambria Math"/>
              </a:rPr>
              <a:t>(7)	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max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/ (1 + √(1 +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))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,    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32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1B2A4A"/>
                </a:solidFill>
                <a:latin typeface="Calibri"/>
              </a:rPr>
              <a:t>Efficiency: 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at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√(1 +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. At 5 cm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 = 173,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max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 = 85.9 %,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 = 6.0 Ω.</a:t>
            </a:r>
          </a:p>
          <a:p>
            <a:pPr marL="685800" indent="-685800">
              <a:lnSpc>
                <a:spcPts val="4000"/>
              </a:lnSpc>
              <a:spcBef>
                <a:spcPts val="0"/>
              </a:spcBef>
              <a:spcAft>
                <a:spcPts val="0"/>
              </a:spcAft>
            </a:pPr>
            <a:r>
              <a:rPr sz="3200" i="0" b="0">
                <a:solidFill>
                  <a:srgbClr val="9B1D3A"/>
                </a:solidFill>
                <a:latin typeface="Cambria Math"/>
                <a:ea typeface="Cambria Math"/>
                <a:cs typeface="Cambria Math"/>
              </a:rPr>
              <a:t>(8)	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δ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√(2/(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ωμ</a:t>
            </a:r>
            <a:r>
              <a:rPr sz="32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32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σ</a:t>
            </a:r>
            <a:r>
              <a:rPr sz="32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)) = 0.094 mm     (Cu, 500 kHz)</a:t>
            </a:r>
          </a:p>
          <a:p>
            <a:pPr marL="685800" indent="0">
              <a:lnSpc>
                <a:spcPts val="2900"/>
              </a:lnSpc>
              <a:spcBef>
                <a:spcPts val="0"/>
              </a:spcBef>
              <a:spcAft>
                <a:spcPts val="700"/>
              </a:spcAft>
            </a:pPr>
            <a:r>
              <a:rPr sz="2400" i="0" b="1">
                <a:solidFill>
                  <a:srgbClr val="1B2A4A"/>
                </a:solidFill>
                <a:latin typeface="Calibri"/>
              </a:rPr>
              <a:t>Skin depth: 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current crowds into a skin thinner than the 0.35 mm wire radius, raising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marL="0" indent="0">
              <a:lnSpc>
                <a:spcPts val="2900"/>
              </a:lnSpc>
              <a:spcBef>
                <a:spcPts val="200"/>
              </a:spcBef>
              <a:spcAft>
                <a:spcPts val="400"/>
              </a:spcAft>
            </a:pPr>
            <a:r>
              <a:rPr sz="2400" i="0" b="1">
                <a:solidFill>
                  <a:srgbClr val="1B2A4A"/>
                </a:solidFill>
                <a:latin typeface="Calibri"/>
              </a:rPr>
              <a:t>Boundary conditions: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n̂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·(</a:t>
            </a:r>
            <a:r>
              <a:rPr sz="24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4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 = 0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n̂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× (</a:t>
            </a:r>
            <a:r>
              <a:rPr sz="24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H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− </a:t>
            </a:r>
            <a:r>
              <a:rPr sz="24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H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 = </a:t>
            </a:r>
            <a:r>
              <a:rPr sz="2400" i="1" b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. Metal forces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n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 ≈ 0 (eddy currents):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 fall and an Al plate 10 mm away adds 87 mΩ. Ferrite guides flux, raising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.</a:t>
            </a:r>
          </a:p>
          <a:p>
            <a:pPr marL="0" indent="0">
              <a:lnSpc>
                <a:spcPts val="2900"/>
              </a:lnSpc>
              <a:spcBef>
                <a:spcPts val="0"/>
              </a:spcBef>
              <a:spcAft>
                <a:spcPts val="400"/>
              </a:spcAft>
            </a:pPr>
            <a:r>
              <a:rPr sz="2400" i="0" b="1">
                <a:solidFill>
                  <a:srgbClr val="1B2A4A"/>
                </a:solidFill>
                <a:latin typeface="Calibri"/>
              </a:rPr>
              <a:t>Symbols: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N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 turns,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 coil radius,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 spacing;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1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 into the dots;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2400" i="1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i="1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jωL</a:t>
            </a:r>
            <a:r>
              <a:rPr sz="2400" i="1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+ 1/(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jωC</a:t>
            </a:r>
            <a:r>
              <a:rPr sz="2400" i="1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)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,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 added in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2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;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σ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 conductivity; </a:t>
            </a:r>
            <a:r>
              <a:rPr sz="2400" i="1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μ</a:t>
            </a:r>
            <a:r>
              <a:rPr sz="2400" i="0" b="0" baseline="-25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0</a:t>
            </a:r>
            <a:r>
              <a:rPr sz="2400" i="0" b="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 = 4π × 10</a:t>
            </a:r>
            <a:r>
              <a:rPr sz="2400" i="0" b="0" baseline="30000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−7</a:t>
            </a:r>
            <a:r>
              <a:rPr sz="2400" i="0" b="0">
                <a:solidFill>
                  <a:srgbClr val="1A1A1A"/>
                </a:solidFill>
                <a:latin typeface="Calibri"/>
              </a:rPr>
              <a:t> H/m.</a:t>
            </a:r>
          </a:p>
        </p:txBody>
      </p:sp>
      <p:sp>
        <p:nvSpPr>
          <p:cNvPr id="17" name="S5 Analysis and Simulation panel"/>
          <p:cNvSpPr/>
          <p:nvPr/>
        </p:nvSpPr>
        <p:spPr>
          <a:xfrm>
            <a:off x="14713553" y="17560417"/>
            <a:ext cx="13375957" cy="12084621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S5 Analysis and Simulation heading"/>
          <p:cNvSpPr txBox="1"/>
          <p:nvPr/>
        </p:nvSpPr>
        <p:spPr>
          <a:xfrm>
            <a:off x="15070244" y="17812715"/>
            <a:ext cx="12662573" cy="756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9B1D3A"/>
                </a:solidFill>
                <a:latin typeface="Cambria"/>
              </a:rPr>
              <a:t>5  </a:t>
            </a:r>
            <a:r>
              <a:rPr sz="4400" b="1" i="0">
                <a:solidFill>
                  <a:srgbClr val="1B2A4A"/>
                </a:solidFill>
                <a:latin typeface="Cambria"/>
              </a:rPr>
              <a:t>Analysis and Simulation</a:t>
            </a:r>
          </a:p>
        </p:txBody>
      </p:sp>
      <p:sp>
        <p:nvSpPr>
          <p:cNvPr id="20" name="S5 fig_k_vs_d caption"/>
          <p:cNvSpPr txBox="1"/>
          <p:nvPr/>
        </p:nvSpPr>
        <p:spPr>
          <a:xfrm>
            <a:off x="15070244" y="23026878"/>
            <a:ext cx="6152939" cy="9671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1A1A"/>
                </a:solidFill>
                <a:latin typeface="Calibri"/>
              </a:rPr>
              <a:t>Closed form and Neumann agree to ≤ 0.05 % (0.5–15 cm);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∝ 1/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b="0" i="0" baseline="30000">
                <a:solidFill>
                  <a:srgbClr val="1A1A1A"/>
                </a:solidFill>
                <a:latin typeface="Calibri"/>
              </a:rPr>
              <a:t>3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only for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≫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22" name="S5 fig_eta_vs_d caption"/>
          <p:cNvSpPr txBox="1"/>
          <p:nvPr/>
        </p:nvSpPr>
        <p:spPr>
          <a:xfrm>
            <a:off x="21579878" y="23026878"/>
            <a:ext cx="6152939" cy="9671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max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is 97 % at 1 cm, 86 % at 5 cm, 57 % at 10 cm; the fixed 6 Ω load gives 44 % at 10 cm.</a:t>
            </a:r>
          </a:p>
        </p:txBody>
      </p:sp>
      <p:sp>
        <p:nvSpPr>
          <p:cNvPr id="24" name="S5 fig_eta_vs_f caption"/>
          <p:cNvSpPr txBox="1"/>
          <p:nvPr/>
        </p:nvSpPr>
        <p:spPr>
          <a:xfrm>
            <a:off x="15070244" y="28325139"/>
            <a:ext cx="6152939" cy="9671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1A1A"/>
                </a:solidFill>
                <a:latin typeface="Calibri"/>
              </a:rPr>
              <a:t>At 2 and 5 cm the power peak splits in two; at 10 cm a single sharp peak sits at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0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.</a:t>
            </a:r>
          </a:p>
        </p:txBody>
      </p:sp>
      <p:sp>
        <p:nvSpPr>
          <p:cNvPr id="26" name="S5 fig_eta_vs_RL caption"/>
          <p:cNvSpPr txBox="1"/>
          <p:nvPr/>
        </p:nvSpPr>
        <p:spPr>
          <a:xfrm>
            <a:off x="21579878" y="28325139"/>
            <a:ext cx="6152939" cy="9671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1A1A"/>
                </a:solidFill>
                <a:latin typeface="Calibri"/>
              </a:rPr>
              <a:t>The best load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L,opt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2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√(1+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) moves with spacing; 6 Ω is best only at 5 cm.</a:t>
            </a:r>
          </a:p>
        </p:txBody>
      </p:sp>
      <p:sp>
        <p:nvSpPr>
          <p:cNvPr id="27" name="S5b Analysis cont panel"/>
          <p:cNvSpPr/>
          <p:nvPr/>
        </p:nvSpPr>
        <p:spPr>
          <a:xfrm>
            <a:off x="28758308" y="5466461"/>
            <a:ext cx="13375957" cy="6307455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S5b Analysis cont heading"/>
          <p:cNvSpPr txBox="1"/>
          <p:nvPr/>
        </p:nvSpPr>
        <p:spPr>
          <a:xfrm>
            <a:off x="29115000" y="5718759"/>
            <a:ext cx="12662573" cy="756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 i="0">
                <a:solidFill>
                  <a:srgbClr val="1B2A4A"/>
                </a:solidFill>
                <a:latin typeface="Cambria"/>
              </a:rPr>
              <a:t>5  Analysis and Simulation (cont.)</a:t>
            </a:r>
          </a:p>
        </p:txBody>
      </p:sp>
      <p:sp>
        <p:nvSpPr>
          <p:cNvPr id="30" name="S5 setup box"/>
          <p:cNvSpPr txBox="1"/>
          <p:nvPr/>
        </p:nvSpPr>
        <p:spPr>
          <a:xfrm>
            <a:off x="37229748" y="6475653"/>
            <a:ext cx="4547825" cy="4541367"/>
          </a:xfrm>
          <a:prstGeom prst="rect">
            <a:avLst/>
          </a:prstGeom>
          <a:noFill/>
        </p:spPr>
        <p:txBody>
          <a:bodyPr wrap="square" anchor="t" tIns="91440" bIns="91440">
            <a:spAutoFit/>
          </a:bodyPr>
          <a:lstStyle/>
          <a:p>
            <a:pPr algn="l"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B2A4A"/>
                </a:solidFill>
                <a:latin typeface="Calibri"/>
              </a:rPr>
              <a:t>Setup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1A1A"/>
                </a:solidFill>
                <a:latin typeface="Calibri"/>
              </a:rPr>
              <a:t>Planar spiral,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N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10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out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100 mm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0">
                <a:solidFill>
                  <a:srgbClr val="1A1A1A"/>
                </a:solidFill>
                <a:latin typeface="Calibri"/>
              </a:rPr>
              <a:t>wire 0.7 mm, pitch 1.0 mm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17.13 µH,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C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5.915 nF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0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500 kHz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0.455 Ω,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118.3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L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6.0 Ω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0"/>
              </a:spcAft>
            </a:pP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s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5 V peak,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s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0</a:t>
            </a:r>
          </a:p>
        </p:txBody>
      </p:sp>
      <p:sp>
        <p:nvSpPr>
          <p:cNvPr id="31" name="S6 Demonstration panel"/>
          <p:cNvSpPr/>
          <p:nvPr/>
        </p:nvSpPr>
        <p:spPr>
          <a:xfrm>
            <a:off x="28758308" y="12194413"/>
            <a:ext cx="13375957" cy="9250934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S6 Demonstration heading"/>
          <p:cNvSpPr txBox="1"/>
          <p:nvPr/>
        </p:nvSpPr>
        <p:spPr>
          <a:xfrm>
            <a:off x="29115000" y="12446711"/>
            <a:ext cx="12662573" cy="756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9B1D3A"/>
                </a:solidFill>
                <a:latin typeface="Cambria"/>
              </a:rPr>
              <a:t>6  </a:t>
            </a:r>
            <a:r>
              <a:rPr sz="4400" b="1" i="0">
                <a:solidFill>
                  <a:srgbClr val="1B2A4A"/>
                </a:solidFill>
                <a:latin typeface="Cambria"/>
              </a:rPr>
              <a:t>Demonstration: Model vs Model</a:t>
            </a:r>
          </a:p>
        </p:txBody>
      </p:sp>
      <p:sp>
        <p:nvSpPr>
          <p:cNvPr id="36" name="S7 Conclusion and References panel"/>
          <p:cNvSpPr/>
          <p:nvPr/>
        </p:nvSpPr>
        <p:spPr>
          <a:xfrm>
            <a:off x="28758308" y="21865844"/>
            <a:ext cx="13375957" cy="7779194"/>
          </a:xfrm>
          <a:prstGeom prst="rect">
            <a:avLst/>
          </a:prstGeom>
          <a:solidFill>
            <a:srgbClr val="EE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7 Conclusion and References heading"/>
          <p:cNvSpPr txBox="1"/>
          <p:nvPr/>
        </p:nvSpPr>
        <p:spPr>
          <a:xfrm>
            <a:off x="29115000" y="22118142"/>
            <a:ext cx="12662573" cy="75689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4400" b="1" i="0">
                <a:solidFill>
                  <a:srgbClr val="9B1D3A"/>
                </a:solidFill>
                <a:latin typeface="Cambria"/>
              </a:rPr>
              <a:t>7  </a:t>
            </a:r>
            <a:r>
              <a:rPr sz="4400" b="1" i="0">
                <a:solidFill>
                  <a:srgbClr val="1B2A4A"/>
                </a:solidFill>
                <a:latin typeface="Cambria"/>
              </a:rPr>
              <a:t>Conclusion and References</a:t>
            </a:r>
          </a:p>
        </p:txBody>
      </p:sp>
      <p:pic>
        <p:nvPicPr>
          <p:cNvPr id="40" name="S3 schematic" descr="fig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719" y="20898700"/>
            <a:ext cx="11942114" cy="7232548"/>
          </a:xfrm>
          <a:prstGeom prst="rect">
            <a:avLst/>
          </a:prstGeom>
        </p:spPr>
      </p:pic>
      <p:sp>
        <p:nvSpPr>
          <p:cNvPr id="46" name="S6 bullets"/>
          <p:cNvSpPr txBox="1"/>
          <p:nvPr/>
        </p:nvSpPr>
        <p:spPr>
          <a:xfrm>
            <a:off x="29114496" y="13368528"/>
            <a:ext cx="12664440" cy="2057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libri"/>
              </a:rPr>
              <a:t>•	</a:t>
            </a:r>
            <a:r>
              <a:rPr sz="2400" b="1" i="0">
                <a:solidFill>
                  <a:srgbClr val="1A1A1A"/>
                </a:solidFill>
                <a:latin typeface="Calibri"/>
              </a:rPr>
              <a:t>No prototype was built: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closed form ↔ Python Neumann sum + 2 × 2 phasor solver ↔ LTspice sim/wpt.asc. LTspice agrees with the solver to 5 × 10</a:t>
            </a:r>
            <a:r>
              <a:rPr sz="2400" b="0" i="0" baseline="30000">
                <a:solidFill>
                  <a:srgbClr val="1A1A1A"/>
                </a:solidFill>
                <a:latin typeface="Calibri"/>
              </a:rPr>
              <a:t>−10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% (2, 5, 10 cm, 350–650 kHz).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libri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Faraday in time: at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0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2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−j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ω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1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and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2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2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+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L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is real, so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2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lags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1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by 90° (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0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/4 = 0.50 µs).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libri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Light-load peaks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±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(eq. 5) give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within 0.3 % at 1, 2, 5 cm (5 cm: 474.4 / 530.3 kHz → 0.1109).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libri"/>
              </a:rPr>
              <a:t>•	</a:t>
            </a:r>
            <a:r>
              <a:rPr sz="2400" b="1" i="0">
                <a:solidFill>
                  <a:srgbClr val="1A1A1A"/>
                </a:solidFill>
                <a:latin typeface="Calibri"/>
              </a:rPr>
              <a:t>Finding: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a 6 Ω load pulls them in (5 cm: 483.5 / 519.6 kHz →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0.072, 35 % low; 10 cm: 1 peak).</a:t>
            </a:r>
          </a:p>
        </p:txBody>
      </p:sp>
      <p:graphicFrame>
        <p:nvGraphicFramePr>
          <p:cNvPr id="47" name="S6 table"/>
          <p:cNvGraphicFramePr>
            <a:graphicFrameLocks noGrp="1"/>
          </p:cNvGraphicFramePr>
          <p:nvPr/>
        </p:nvGraphicFramePr>
        <p:xfrm>
          <a:off x="29114496" y="15499080"/>
          <a:ext cx="12664440" cy="1874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005840"/>
                <a:gridCol w="822960"/>
                <a:gridCol w="2103120"/>
                <a:gridCol w="1188720"/>
                <a:gridCol w="1691640"/>
                <a:gridCol w="4937760"/>
              </a:tblGrid>
              <a:tr h="374904"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d (cm)</a:t>
                      </a:r>
                    </a:p>
                  </a:txBody>
                  <a:tcPr marL="54864" marR="54864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M (µH)</a:t>
                      </a:r>
                    </a:p>
                  </a:txBody>
                  <a:tcPr marL="54864" marR="54864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k</a:t>
                      </a:r>
                    </a:p>
                  </a:txBody>
                  <a:tcPr marL="54864" marR="54864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ηmax (RL,opt)</a:t>
                      </a:r>
                    </a:p>
                  </a:txBody>
                  <a:tcPr marL="54864" marR="54864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η at 6 Ω</a:t>
                      </a:r>
                    </a:p>
                  </a:txBody>
                  <a:tcPr marL="54864" marR="54864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PL at 6 Ω (W)</a:t>
                      </a:r>
                    </a:p>
                  </a:txBody>
                  <a:tcPr marL="54864" marR="54864" marT="18288" marB="18288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1" i="0">
                          <a:solidFill>
                            <a:srgbClr val="FFFFFF"/>
                          </a:solidFill>
                          <a:latin typeface="Calibri"/>
                        </a:rPr>
                        <a:t>Regime</a:t>
                      </a:r>
                    </a:p>
                  </a:txBody>
                  <a:tcPr marL="54864" marR="54864" marT="18288" marB="18288">
                    <a:solidFill>
                      <a:srgbClr val="1B2A4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8.79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0.513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96.8 % (27.6 Ω)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92.6 %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0.098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over-coupled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3.72</a:t>
                      </a:r>
                    </a:p>
                  </a:txBody>
                  <a:tcPr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0.217</a:t>
                      </a:r>
                    </a:p>
                  </a:txBody>
                  <a:tcPr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92.5 % (11.7 Ω)</a:t>
                      </a:r>
                    </a:p>
                  </a:txBody>
                  <a:tcPr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91.0 %</a:t>
                      </a:r>
                    </a:p>
                  </a:txBody>
                  <a:tcPr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0.526</a:t>
                      </a:r>
                    </a:p>
                  </a:txBody>
                  <a:tcPr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over-coupled</a:t>
                      </a:r>
                    </a:p>
                  </a:txBody>
                  <a:tcPr marL="54864" marR="54864" marT="18288" marB="18288">
                    <a:solidFill>
                      <a:srgbClr val="F2F4F8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1.90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0.111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85.9 % (6.00 Ω)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85.9 %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1.79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over-coupled; design point</a:t>
                      </a:r>
                    </a:p>
                  </a:txBody>
                  <a:tcPr marL="54864" marR="54864" marT="18288" marB="18288">
                    <a:solidFill>
                      <a:srgbClr val="FFFFFF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0.51</a:t>
                      </a:r>
                    </a:p>
                  </a:txBody>
                  <a:tcPr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0.030</a:t>
                      </a:r>
                    </a:p>
                  </a:txBody>
                  <a:tcPr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57.2 % (1.67 Ω)</a:t>
                      </a:r>
                    </a:p>
                  </a:txBody>
                  <a:tcPr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43.5 %</a:t>
                      </a:r>
                    </a:p>
                  </a:txBody>
                  <a:tcPr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6.36</a:t>
                      </a:r>
                    </a:p>
                  </a:txBody>
                  <a:tcPr marL="54864" marR="54864" marT="18288" marB="18288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2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2200" b="0" i="0">
                          <a:solidFill>
                            <a:srgbClr val="1A1A1A"/>
                          </a:solidFill>
                          <a:latin typeface="Calibri"/>
                        </a:rPr>
                        <a:t>near critical (k &lt; kc)</a:t>
                      </a:r>
                    </a:p>
                  </a:txBody>
                  <a:tcPr marL="54864" marR="54864" marT="18288" marB="18288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48" name="S6 notes"/>
          <p:cNvSpPr txBox="1"/>
          <p:nvPr/>
        </p:nvSpPr>
        <p:spPr>
          <a:xfrm>
            <a:off x="29114496" y="17419320"/>
            <a:ext cx="12664440" cy="566928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2000" b="0" i="0" baseline="-25000">
                <a:solidFill>
                  <a:srgbClr val="1A1A1A"/>
                </a:solidFill>
                <a:latin typeface="Calibri"/>
              </a:rPr>
              <a:t>s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 = 5 V pk, 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000" b="0" i="0" baseline="-25000">
                <a:solidFill>
                  <a:srgbClr val="1A1A1A"/>
                </a:solidFill>
                <a:latin typeface="Calibri"/>
              </a:rPr>
              <a:t>s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 = 0, 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000" b="0" i="0" baseline="-25000">
                <a:solidFill>
                  <a:srgbClr val="1A1A1A"/>
                </a:solidFill>
                <a:latin typeface="Calibri"/>
              </a:rPr>
              <a:t>1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 = 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000" b="0" i="0" baseline="-25000">
                <a:solidFill>
                  <a:srgbClr val="1A1A1A"/>
                </a:solidFill>
                <a:latin typeface="Calibri"/>
              </a:rPr>
              <a:t>2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 = 0.455 Ω; regime from 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000" b="0" i="0" baseline="-25000">
                <a:solidFill>
                  <a:srgbClr val="1A1A1A"/>
                </a:solidFill>
                <a:latin typeface="Calibri"/>
              </a:rPr>
              <a:t>c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 = 0.0318 (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000" b="0" i="0" baseline="-25000">
                <a:solidFill>
                  <a:srgbClr val="1A1A1A"/>
                </a:solidFill>
                <a:latin typeface="Calibri"/>
              </a:rPr>
              <a:t>L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 = 6 Ω, 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000" b="0" i="0" baseline="-25000">
                <a:solidFill>
                  <a:srgbClr val="1A1A1A"/>
                </a:solidFill>
                <a:latin typeface="Calibri"/>
              </a:rPr>
              <a:t>s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 = 0).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, </a:t>
            </a:r>
            <a:r>
              <a:rPr sz="20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000" b="0" i="0">
                <a:solidFill>
                  <a:srgbClr val="1A1A1A"/>
                </a:solidFill>
                <a:latin typeface="Calibri"/>
              </a:rPr>
              <a:t>: closed form vs Neumann agree to ≤ 0.05 % (0.5–15 cm).</a:t>
            </a:r>
          </a:p>
        </p:txBody>
      </p:sp>
      <p:pic>
        <p:nvPicPr>
          <p:cNvPr id="49" name="S6 figure" descr="fig_c_p1_validation_chai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9114496" y="18031968"/>
            <a:ext cx="12664440" cy="2514600"/>
          </a:xfrm>
          <a:prstGeom prst="rect">
            <a:avLst/>
          </a:prstGeom>
        </p:spPr>
      </p:pic>
      <p:sp>
        <p:nvSpPr>
          <p:cNvPr id="50" name="S6 caption"/>
          <p:cNvSpPr txBox="1"/>
          <p:nvPr/>
        </p:nvSpPr>
        <p:spPr>
          <a:xfrm>
            <a:off x="29114496" y="20592288"/>
            <a:ext cx="12664440" cy="7772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(a) Model chain. (b)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P</a:t>
            </a:r>
            <a:r>
              <a:rPr sz="2200" b="0" i="0" baseline="-25000">
                <a:solidFill>
                  <a:srgbClr val="1A1A1A"/>
                </a:solidFill>
                <a:latin typeface="Calibri"/>
              </a:rPr>
              <a:t>L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(W) vs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(kHz) at 2, 5, 10 cm,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200" b="0" i="0" baseline="-25000">
                <a:solidFill>
                  <a:srgbClr val="1A1A1A"/>
                </a:solidFill>
                <a:latin typeface="Calibri"/>
              </a:rPr>
              <a:t>L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= 6 Ω; markers: LTspice; dotted lines: light-load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f</a:t>
            </a:r>
            <a:r>
              <a:rPr sz="2200" b="0" i="0" baseline="-25000">
                <a:solidFill>
                  <a:srgbClr val="1A1A1A"/>
                </a:solidFill>
                <a:latin typeface="Calibri"/>
              </a:rPr>
              <a:t>±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at 5 cm. (c)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00" b="0" i="0" baseline="-25000">
                <a:solidFill>
                  <a:srgbClr val="1A1A1A"/>
                </a:solidFill>
                <a:latin typeface="Calibri"/>
              </a:rPr>
              <a:t>1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,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00" b="0" i="0" baseline="-25000">
                <a:solidFill>
                  <a:srgbClr val="1A1A1A"/>
                </a:solidFill>
                <a:latin typeface="Calibri"/>
              </a:rPr>
              <a:t>2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(A) vs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t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(µs), 5 cm: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00" b="0" i="0" baseline="-25000">
                <a:solidFill>
                  <a:srgbClr val="1A1A1A"/>
                </a:solidFill>
                <a:latin typeface="Calibri"/>
              </a:rPr>
              <a:t>2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lags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200" b="0" i="0" baseline="-25000">
                <a:solidFill>
                  <a:srgbClr val="1A1A1A"/>
                </a:solidFill>
                <a:latin typeface="Calibri"/>
              </a:rPr>
              <a:t>1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by 90°. Read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only from light-load peaks.</a:t>
            </a:r>
          </a:p>
        </p:txBody>
      </p:sp>
      <p:sp>
        <p:nvSpPr>
          <p:cNvPr id="51" name="S7 body"/>
          <p:cNvSpPr txBox="1"/>
          <p:nvPr/>
        </p:nvSpPr>
        <p:spPr>
          <a:xfrm>
            <a:off x="29114496" y="22997160"/>
            <a:ext cx="12664440" cy="5303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9B1D3A"/>
                </a:solidFill>
                <a:latin typeface="Calibri"/>
              </a:rPr>
              <a:t>Key findings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libri"/>
              </a:rPr>
              <a:t>•	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Q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118.3: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max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96.8 % at 1 cm, 85.9 % at 5 cm (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L,opt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6.0 Ω), 57.2 % at 10 cm.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libri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Max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≠ max power: at 5 cm,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L,opt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6.0 Ω, but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L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79.1 Ω gives the most power.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9B1D3A"/>
                </a:solidFill>
                <a:latin typeface="Calibri"/>
              </a:rPr>
              <a:t>Limitations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libri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Range: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∝ 1/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b="0" i="0" baseline="30000">
                <a:solidFill>
                  <a:srgbClr val="1A1A1A"/>
                </a:solidFill>
                <a:latin typeface="Calibri"/>
              </a:rPr>
              <a:t>3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only for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≫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a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(log-log slope −2.1 at 8–10 cm, −2.97 at 50–100 cm).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libri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AC loss: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dc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0.13 → 0.455 Ω (skin 0.269, prox. 0.136, ESR 0.035, joints 0.015); range 0.38–0.48 Ω.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libri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Misalignment (3 cm):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91.1 / 88.8 / 84.2 % at Δ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2 / 3 / 4 cm;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0 at 8.22 cm, then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M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&lt; 0.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libri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Al plate 5 mm behind coil 2: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−56.4 %,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2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+178 mΩ,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L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2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−51 %; ferrite: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k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+34.5 %.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η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(3 cm): 92.5 → 24.0 % (63.9 % with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C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2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retuned).</a:t>
            </a:r>
          </a:p>
          <a:p>
            <a:pPr marL="292608" indent="-292608"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0" i="0">
                <a:solidFill>
                  <a:srgbClr val="1A1A1A"/>
                </a:solidFill>
                <a:latin typeface="Calibri"/>
              </a:rPr>
              <a:t>•	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Stress (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R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s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0):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V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C1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44.8 / 314 V pk at 5 / 10 cm;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I</a:t>
            </a:r>
            <a:r>
              <a:rPr sz="2400" b="0" i="0" baseline="-25000">
                <a:solidFill>
                  <a:srgbClr val="1A1A1A"/>
                </a:solidFill>
                <a:latin typeface="Calibri"/>
              </a:rPr>
              <a:t>1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≤ 11.0 A pk, 27.5 W (50 Ω source: 0.1 A). Field: 82.3 µT rms at </a:t>
            </a:r>
            <a:r>
              <a:rPr sz="24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= 0, &lt; 27 µT rms (ICNIRP 2010) beyond 4.7 cm, &lt; 1.84 beyond 15.4 cm.</a:t>
            </a:r>
          </a:p>
          <a:p>
            <a:pPr>
              <a:lnSpc>
                <a:spcPts val="2900"/>
              </a:lnSpc>
              <a:spcBef>
                <a:spcPts val="0"/>
              </a:spcBef>
              <a:spcAft>
                <a:spcPts val="300"/>
              </a:spcAft>
            </a:pPr>
            <a:r>
              <a:rPr sz="2400" b="1" i="0">
                <a:solidFill>
                  <a:srgbClr val="1A1A1A"/>
                </a:solidFill>
                <a:latin typeface="Calibri"/>
              </a:rPr>
              <a:t>Future work:</a:t>
            </a:r>
            <a:r>
              <a:rPr sz="2400" b="0" i="0">
                <a:solidFill>
                  <a:srgbClr val="1A1A1A"/>
                </a:solidFill>
                <a:latin typeface="Calibri"/>
              </a:rPr>
              <a:t> build and measure a prototype; ferrite backing; adaptive frequency tuning [2].</a:t>
            </a:r>
          </a:p>
        </p:txBody>
      </p:sp>
      <p:sp>
        <p:nvSpPr>
          <p:cNvPr id="52" name="S7 references"/>
          <p:cNvSpPr txBox="1"/>
          <p:nvPr/>
        </p:nvSpPr>
        <p:spPr>
          <a:xfrm>
            <a:off x="29114496" y="28346400"/>
            <a:ext cx="12664440" cy="12344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[1] A. Kurs et al., Science, vol. 317, no. 5834, pp. 83–86, 2007.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[2] A. P. Sample, D. A. Meyer, and J. R. Smith, IEEE Trans. Ind. Electron., vol. 58, no. 2, pp. 544–554, 2011.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[3] S. Y. R. Hui, W. Zhong, and C. K. Lee, IEEE Trans. Power Electron., vol. 29, no. 9, pp. 4500–4511, 2014.</a:t>
            </a:r>
          </a:p>
          <a:p>
            <a:pPr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A1A1A"/>
                </a:solidFill>
                <a:latin typeface="Calibri"/>
              </a:rPr>
              <a:t>[4] R. K. Shevgaonkar, Electromagnetic Waves. New Delhi: Tata McGraw-Hill, 2006.</a:t>
            </a:r>
          </a:p>
        </p:txBody>
      </p:sp>
      <p:sp>
        <p:nvSpPr>
          <p:cNvPr id="53" name="S5 field map caption"/>
          <p:cNvSpPr txBox="1"/>
          <p:nvPr/>
        </p:nvSpPr>
        <p:spPr>
          <a:xfrm>
            <a:off x="29338241" y="11062740"/>
            <a:ext cx="740074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600"/>
              </a:lnSpc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1A1A1A"/>
                </a:solidFill>
                <a:latin typeface="Calibri"/>
              </a:rPr>
              <a:t>|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B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| (µT) in the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x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–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z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plane: primary at 1 A, coil 2 at </a:t>
            </a:r>
            <a:r>
              <a:rPr sz="2200" b="0" i="1">
                <a:solidFill>
                  <a:srgbClr val="1A1A1A"/>
                </a:solidFill>
                <a:latin typeface="Cambria Math"/>
                <a:ea typeface="Cambria Math"/>
                <a:cs typeface="Cambria Math"/>
              </a:rPr>
              <a:t>d</a:t>
            </a:r>
            <a:r>
              <a:rPr sz="2200" b="0" i="0">
                <a:solidFill>
                  <a:srgbClr val="1A1A1A"/>
                </a:solidFill>
                <a:latin typeface="Calibri"/>
              </a:rPr>
              <a:t> = 3 cm.</a:t>
            </a:r>
          </a:p>
        </p:txBody>
      </p:sp>
      <p:pic>
        <p:nvPicPr>
          <p:cNvPr id="59" name="S5 fig_k_vs_d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245285" y="18779858"/>
            <a:ext cx="5802857" cy="4204970"/>
          </a:xfrm>
          <a:prstGeom prst="rect">
            <a:avLst/>
          </a:prstGeom>
        </p:spPr>
      </p:pic>
      <p:pic>
        <p:nvPicPr>
          <p:cNvPr id="60" name="S5 fig_eta_vs_d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754919" y="18779858"/>
            <a:ext cx="5802857" cy="4204970"/>
          </a:xfrm>
          <a:prstGeom prst="rect">
            <a:avLst/>
          </a:prstGeom>
        </p:spPr>
      </p:pic>
      <p:pic>
        <p:nvPicPr>
          <p:cNvPr id="61" name="S5 fig_eta_vs_f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245285" y="24078120"/>
            <a:ext cx="5802857" cy="4204970"/>
          </a:xfrm>
          <a:prstGeom prst="rect">
            <a:avLst/>
          </a:prstGeom>
        </p:spPr>
      </p:pic>
      <p:pic>
        <p:nvPicPr>
          <p:cNvPr id="62" name="S5 fig_eta_vs_RL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1754919" y="24078120"/>
            <a:ext cx="5802857" cy="4204970"/>
          </a:xfrm>
          <a:prstGeom prst="rect">
            <a:avLst/>
          </a:prstGeom>
        </p:spPr>
      </p:pic>
      <p:pic>
        <p:nvPicPr>
          <p:cNvPr id="63" name="S5 field map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9338241" y="6475653"/>
            <a:ext cx="7400747" cy="4541367"/>
          </a:xfrm>
          <a:prstGeom prst="rect">
            <a:avLst/>
          </a:prstGeom>
        </p:spPr>
      </p:pic>
      <p:pic>
        <p:nvPicPr>
          <p:cNvPr id="64" name="Logo" descr="team_logo_circl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16136" y="1051242"/>
            <a:ext cx="3363976" cy="33639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Resonant WPT poster, EE2025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