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0" d="100"/>
          <a:sy n="20" d="100"/>
        </p:scale>
        <p:origin x="-1512" y="-112"/>
      </p:cViewPr>
      <p:guideLst>
        <p:guide pos="432"/>
        <p:guide pos="9072"/>
        <p:guide pos="9504"/>
        <p:guide pos="18144"/>
        <p:guide pos="18576"/>
        <p:guide pos="27216"/>
        <p:guide orient="horz" pos="432"/>
        <p:guide orient="horz" pos="3312"/>
        <p:guide orient="horz" pos="3744"/>
        <p:guide orient="horz" pos="203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BgArt" Type="http://schemas.openxmlformats.org/officeDocument/2006/relationships/image" Target="../media/bgart.jpeg"/><Relationship Id="rIdHdrArt" Type="http://schemas.openxmlformats.org/officeDocument/2006/relationships/image" Target="../media/hdrart.jpeg"/><Relationship Id="rIdApp1" Type="http://schemas.openxmlformats.org/officeDocument/2006/relationships/image" Target="../media/app1.png"/><Relationship Id="rIdApp2" Type="http://schemas.openxmlformats.org/officeDocument/2006/relationships/image" Target="../media/app2.png"/><Relationship Id="rIdApp3" Type="http://schemas.openxmlformats.org/officeDocument/2006/relationships/image" Target="../media/app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BgAr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block"/>
          <p:cNvSpPr/>
          <p:nvPr/>
        </p:nvSpPr>
        <p:spPr>
          <a:xfrm>
            <a:off x="660400" y="622300"/>
            <a:ext cx="28954984" cy="4204970"/>
          </a:xfrm>
          <a:prstGeom prst="roundRect">
            <a:avLst>
              <a:gd name="adj" fmla="val 5436"/>
            </a:avLst>
          </a:prstGeom>
          <a:blipFill dpi="0" rotWithShape="1">
            <a:blip r:embed="rIdHdrArt"/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, authors, affiliation"/>
          <p:cNvSpPr txBox="1"/>
          <p:nvPr/>
        </p:nvSpPr>
        <p:spPr>
          <a:xfrm>
            <a:off x="4381500" y="1041400"/>
            <a:ext cx="21512784" cy="342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7200" b="1" i="0">
                <a:solidFill>
                  <a:srgbClr val="FFFFFF"/>
                </a:solidFill>
                <a:latin typeface="Palatino Linotype"/>
              </a:rPr>
              <a:t>Wireless Power by Resonant Magnetic Coupling</a:t>
            </a:r>
          </a:p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Chittharanjan S  ·  Deekshitha R  ·  Dani Firas Payyanakadavan</a:t>
            </a:r>
          </a:p>
          <a:p>
            <a:pPr algn="ctr">
              <a:spcAft>
                <a:spcPts val="0"/>
              </a:spcAft>
            </a:pPr>
            <a:r>
              <a:rPr sz="3600" b="0" i="0">
                <a:solidFill>
                  <a:srgbClr val="BFF3F7"/>
                </a:solidFill>
                <a:latin typeface="Cambria"/>
              </a:rPr>
              <a:t>Department of Electrical Engineering, IIT Madras  ·  EE2025 Engineering Electromagnetics</a:t>
            </a:r>
          </a:p>
        </p:txBody>
      </p:sp>
      <p:sp>
        <p:nvSpPr>
          <p:cNvPr id="6" name="S2 Executive Summary panel"/>
          <p:cNvSpPr/>
          <p:nvPr/>
        </p:nvSpPr>
        <p:spPr>
          <a:xfrm>
            <a:off x="660400" y="5232400"/>
            <a:ext cx="14147800" cy="7148449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2 Executive Summary heading"/>
          <p:cNvSpPr txBox="1"/>
          <p:nvPr/>
        </p:nvSpPr>
        <p:spPr>
          <a:xfrm>
            <a:off x="1403014" y="5484698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2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Executive Summary</a:t>
            </a:r>
          </a:p>
        </p:txBody>
      </p:sp>
      <p:sp>
        <p:nvSpPr>
          <p:cNvPr id="8" name="S2 body"/>
          <p:cNvSpPr txBox="1"/>
          <p:nvPr/>
        </p:nvSpPr>
        <p:spPr>
          <a:xfrm>
            <a:off x="1403014" y="6451841"/>
            <a:ext cx="12662573" cy="5592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0" i="0">
                <a:solidFill>
                  <a:srgbClr val="1A1A1A"/>
                </a:solidFill>
                <a:latin typeface="Cambria"/>
              </a:rPr>
              <a:t>Two identical 10-turn, 10 cm air-core spiral coils, series-tuned to 500 kHz, transfer power across a 1–10 cm gap with no wire between them. At 500 kHz the wavelength is 600 m, so the coils interact through the reactive near field: primary current creates a magnetic field (Ampère), part of its flux links the secondary (mutual inductance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800" b="0" i="0">
                <a:solidFill>
                  <a:srgbClr val="1A1A1A"/>
                </a:solidFill>
                <a:latin typeface="Cambria"/>
              </a:rPr>
              <a:t>), and Faraday's law induces the secondary voltage. Resonance cancels the coil reactance, so performance is set by coupling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b="0" i="0">
                <a:solidFill>
                  <a:srgbClr val="1A1A1A"/>
                </a:solidFill>
                <a:latin typeface="Cambria"/>
              </a:rPr>
              <a:t> and quality factor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800" b="0" i="0">
                <a:solidFill>
                  <a:srgbClr val="1A1A1A"/>
                </a:solidFill>
                <a:latin typeface="Cambria"/>
              </a:rPr>
              <a:t> = 118.3. A Neumann-integral model gives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b="0" i="0">
                <a:solidFill>
                  <a:srgbClr val="1A1A1A"/>
                </a:solidFill>
                <a:latin typeface="Cambria"/>
              </a:rPr>
              <a:t> falling from 0.51 at 1 cm to 0.030 at 10 cm. A phasor circuit model, confirmed by closed-form theory and LTspice, predicts maximum efficiencies of 97 % at 1 cm, 86 % at 5 cm and 57 % at 10 cm. With the 6 Ω load (optimal at 5 cm), delivered power peaks at critical coupling (6.4 W near 9.75 cm), not where efficiency is highest. All results are analytical and simulated.</a:t>
            </a:r>
          </a:p>
        </p:txBody>
      </p:sp>
      <p:sp>
        <p:nvSpPr>
          <p:cNvPr id="9" name="S3 Physical Concept panel"/>
          <p:cNvSpPr/>
          <p:nvPr/>
        </p:nvSpPr>
        <p:spPr>
          <a:xfrm>
            <a:off x="660400" y="12787249"/>
            <a:ext cx="14147800" cy="17003331"/>
          </a:xfrm>
          <a:prstGeom prst="roundRect">
            <a:avLst>
              <a:gd name="adj" fmla="val 1615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3 Physical Concept heading"/>
          <p:cNvSpPr txBox="1"/>
          <p:nvPr/>
        </p:nvSpPr>
        <p:spPr>
          <a:xfrm>
            <a:off x="1403014" y="13039547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3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The Physical Concept</a:t>
            </a:r>
          </a:p>
        </p:txBody>
      </p:sp>
      <p:sp>
        <p:nvSpPr>
          <p:cNvPr id="11" name="S3 body"/>
          <p:cNvSpPr txBox="1"/>
          <p:nvPr/>
        </p:nvSpPr>
        <p:spPr>
          <a:xfrm>
            <a:off x="1393524" y="14001242"/>
            <a:ext cx="12661900" cy="462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0A5560"/>
                </a:solidFill>
                <a:latin typeface="Cambria"/>
              </a:rPr>
              <a:t xml:space="preserve">Why it matters. 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With no plugs or contacts, a device can be sealed, waterproof, or even inside the body, so wireless power now reaches from phones to electric vehicles and deep-sea robots.</a:t>
            </a:r>
          </a:p>
          <a:p>
            <a:pPr algn="l"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0A5560"/>
                </a:solidFill>
                <a:latin typeface="Cambria"/>
              </a:rPr>
              <a:t xml:space="preserve">How it works. 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 xml:space="preserve">An alternating current in coil 1 makes a magnetic field. Part of that field passes through coil 2 and, because it changes, induces a voltage there (Faraday's law). A capacitor in series with each coil makes it resonate: energy sloshes between the coil's magnetic field and the capacitor's electric field, so a small drive builds a large current. Both coils are tuned to the same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8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 xml:space="preserve">, so power crosses the gap to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8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algn="l"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0A5560"/>
                </a:solidFill>
                <a:latin typeface="Cambria"/>
              </a:rPr>
              <a:t xml:space="preserve">Why it is short range. 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 xml:space="preserve">The field is stored near the coils rather than radiated, so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 xml:space="preserve"> falls from 0.51 at 1 cm to 0.03 at 10 cm.</a:t>
            </a:r>
          </a:p>
        </p:txBody>
      </p:sp>
      <p:pic>
        <p:nvPicPr>
          <p:cNvPr id="80" name="S3 app photo 1" descr="Application photo 1"/>
          <p:cNvPicPr>
            <a:picLocks noChangeAspect="1"/>
          </p:cNvPicPr>
          <p:nvPr/>
        </p:nvPicPr>
        <p:blipFill>
          <a:blip r:embed="rIdApp1"/>
          <a:srcRect l="195" r="195"/>
          <a:stretch>
            <a:fillRect/>
          </a:stretch>
        </p:blipFill>
        <p:spPr>
          <a:xfrm>
            <a:off x="1393524" y="25179782"/>
            <a:ext cx="4068233" cy="3051175"/>
          </a:xfrm>
          <a:prstGeom prst="roundRect">
            <a:avLst>
              <a:gd name="adj" fmla="val 6000"/>
            </a:avLst>
          </a:prstGeom>
          <a:ln w="19050">
            <a:solidFill>
              <a:srgbClr val="0E7C86"/>
            </a:solidFill>
          </a:ln>
        </p:spPr>
      </p:pic>
      <p:sp>
        <p:nvSpPr>
          <p:cNvPr id="81" name="S3 app caption 1"/>
          <p:cNvSpPr txBox="1"/>
          <p:nvPr/>
        </p:nvSpPr>
        <p:spPr>
          <a:xfrm>
            <a:off x="1393524" y="28332556"/>
            <a:ext cx="4068233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i="0" b="1">
                <a:solidFill>
                  <a:srgbClr val="0A5560"/>
                </a:solidFill>
                <a:latin typeface="Cambria"/>
              </a:rPr>
              <a:t xml:space="preserve">Electric vehicles: </a:t>
            </a:r>
            <a:r>
              <a:rPr sz="2200" i="0" b="0">
                <a:solidFill>
                  <a:srgbClr val="1A1A1A"/>
                </a:solidFill>
                <a:latin typeface="Cambria"/>
              </a:rPr>
              <a:t>a ground pad charges a parked robotaxi.</a:t>
            </a:r>
          </a:p>
        </p:txBody>
      </p:sp>
      <p:pic>
        <p:nvPicPr>
          <p:cNvPr id="82" name="S3 app photo 2" descr="Application photo 2"/>
          <p:cNvPicPr>
            <a:picLocks noChangeAspect="1"/>
          </p:cNvPicPr>
          <p:nvPr/>
        </p:nvPicPr>
        <p:blipFill>
          <a:blip r:embed="rIdApp2"/>
          <a:srcRect l="195" r="195"/>
          <a:stretch>
            <a:fillRect/>
          </a:stretch>
        </p:blipFill>
        <p:spPr>
          <a:xfrm>
            <a:off x="5690357" y="25179782"/>
            <a:ext cx="4068233" cy="3051175"/>
          </a:xfrm>
          <a:prstGeom prst="roundRect">
            <a:avLst>
              <a:gd name="adj" fmla="val 6000"/>
            </a:avLst>
          </a:prstGeom>
          <a:ln w="19050">
            <a:solidFill>
              <a:srgbClr val="0E7C86"/>
            </a:solidFill>
          </a:ln>
        </p:spPr>
      </p:pic>
      <p:sp>
        <p:nvSpPr>
          <p:cNvPr id="83" name="S3 app caption 2"/>
          <p:cNvSpPr txBox="1"/>
          <p:nvPr/>
        </p:nvSpPr>
        <p:spPr>
          <a:xfrm>
            <a:off x="5690357" y="28332556"/>
            <a:ext cx="4068233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i="0" b="1">
                <a:solidFill>
                  <a:srgbClr val="0A5560"/>
                </a:solidFill>
                <a:latin typeface="Cambria"/>
              </a:rPr>
              <a:t xml:space="preserve">Phones and IoT: </a:t>
            </a:r>
            <a:r>
              <a:rPr sz="2200" i="0" b="0">
                <a:solidFill>
                  <a:srgbClr val="1A1A1A"/>
                </a:solidFill>
                <a:latin typeface="Cambria"/>
              </a:rPr>
              <a:t>pads charge phones and power sensor nodes.</a:t>
            </a:r>
          </a:p>
        </p:txBody>
      </p:sp>
      <p:pic>
        <p:nvPicPr>
          <p:cNvPr id="84" name="S3 app photo 3" descr="Application photo 3"/>
          <p:cNvPicPr>
            <a:picLocks noChangeAspect="1"/>
          </p:cNvPicPr>
          <p:nvPr/>
        </p:nvPicPr>
        <p:blipFill>
          <a:blip r:embed="rIdApp3"/>
          <a:srcRect l="83" r="83"/>
          <a:stretch>
            <a:fillRect/>
          </a:stretch>
        </p:blipFill>
        <p:spPr>
          <a:xfrm>
            <a:off x="9987190" y="25179782"/>
            <a:ext cx="4068233" cy="3051175"/>
          </a:xfrm>
          <a:prstGeom prst="roundRect">
            <a:avLst>
              <a:gd name="adj" fmla="val 6000"/>
            </a:avLst>
          </a:prstGeom>
          <a:ln w="19050">
            <a:solidFill>
              <a:srgbClr val="0E7C86"/>
            </a:solidFill>
          </a:ln>
        </p:spPr>
      </p:pic>
      <p:sp>
        <p:nvSpPr>
          <p:cNvPr id="85" name="S3 app caption 3"/>
          <p:cNvSpPr txBox="1"/>
          <p:nvPr/>
        </p:nvSpPr>
        <p:spPr>
          <a:xfrm>
            <a:off x="9987190" y="28332556"/>
            <a:ext cx="4068233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i="0" b="1">
                <a:solidFill>
                  <a:srgbClr val="0A5560"/>
                </a:solidFill>
                <a:latin typeface="Cambria"/>
              </a:rPr>
              <a:t xml:space="preserve">Underwater robots: </a:t>
            </a:r>
            <a:r>
              <a:rPr sz="2200" i="0" b="0">
                <a:solidFill>
                  <a:srgbClr val="1A1A1A"/>
                </a:solidFill>
                <a:latin typeface="Cambria"/>
              </a:rPr>
              <a:t>AUVs recharge at seabed docks.</a:t>
            </a:r>
          </a:p>
        </p:txBody>
      </p:sp>
      <p:sp>
        <p:nvSpPr>
          <p:cNvPr id="13" name="S3 caption"/>
          <p:cNvSpPr txBox="1"/>
          <p:nvPr/>
        </p:nvSpPr>
        <p:spPr>
          <a:xfrm>
            <a:off x="1403014" y="23744682"/>
            <a:ext cx="12662573" cy="71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 b="0">
                <a:solidFill>
                  <a:srgbClr val="1A1A1A"/>
                </a:solidFill>
                <a:latin typeface="Cambria"/>
              </a:rPr>
              <a:t>Left: field lines of coil 1, computed for our coils 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3 cm; wine lines thread coil 2 and set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 Right: the series-series circuit. Photos below: AI-generated illustrations.</a:t>
            </a:r>
          </a:p>
        </p:txBody>
      </p:sp>
      <p:sp>
        <p:nvSpPr>
          <p:cNvPr id="14" name="S4 Governing EM Physics panel"/>
          <p:cNvSpPr/>
          <p:nvPr/>
        </p:nvSpPr>
        <p:spPr>
          <a:xfrm>
            <a:off x="660400" y="30196980"/>
            <a:ext cx="14147800" cy="11673459"/>
          </a:xfrm>
          <a:prstGeom prst="roundRect">
            <a:avLst>
              <a:gd name="adj" fmla="val 1958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4 Governing EM Physics heading"/>
          <p:cNvSpPr txBox="1"/>
          <p:nvPr/>
        </p:nvSpPr>
        <p:spPr>
          <a:xfrm>
            <a:off x="1403012" y="30449278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4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Governing EM Physics</a:t>
            </a:r>
          </a:p>
        </p:txBody>
      </p:sp>
      <p:sp>
        <p:nvSpPr>
          <p:cNvPr id="16" name="S4 equations"/>
          <p:cNvSpPr txBox="1"/>
          <p:nvPr/>
        </p:nvSpPr>
        <p:spPr>
          <a:xfrm>
            <a:off x="1403012" y="31416421"/>
            <a:ext cx="12662573" cy="10117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(1)	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∇ ×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∂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/∂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≈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    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ωa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≈ 5 × 10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−4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Ampère, quasi-static: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the coil is 1/6000 of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λ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600 m, so displacement current is negligible.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(2)	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∮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−dΦ/d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 ⇒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−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Faraday: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the changing shared flux induces the EMF that drives coil 2.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(3)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32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NIa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[2(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3/2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]</a:t>
            </a:r>
          </a:p>
          <a:p>
            <a:pPr marL="68580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Φ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/4π) ∮∮ 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Biot–Savart, Neumann: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flux of coil 1 through coil 2 per amp. Pure geometry;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21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(4)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/√(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∝ 1/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for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≫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Coupling: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ours is 0.513, 0.111, 0.030 at 1, 5, 10 cm; 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1/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only for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≳ 4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(5)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1/(2π√(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LC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)),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±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/√(1 ±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Resonance: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17.13 µH, 5.915 nF → 500 kHz;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118.3 at 0.455 Ω. Strong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splits the peak.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(6)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0</a:t>
            </a:r>
          </a:p>
          <a:p>
            <a:pPr marL="68580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in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   at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Circuit, Poynting: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in each coil, so the source sees only resistance.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(7)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max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(1 + √(1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Efficiency: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√(1 +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 At 5 cm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173,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max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85.9 %,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6.0 Ω.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(8)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δ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√(2/(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 = 0.094 mm     (Cu, 500 kHz)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Skin depth: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current crowds into a skin thinner than the 0.35 mm wire radius, raising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marL="0" indent="0">
              <a:lnSpc>
                <a:spcPts val="2900"/>
              </a:lnSpc>
              <a:spcBef>
                <a:spcPts val="200"/>
              </a:spcBef>
              <a:spcAft>
                <a:spcPts val="4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Boundary conditions: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n̂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·(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= 0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n̂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× (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=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 Metal forces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≈ 0 (eddy currents):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fall and an Al plate 10 mm away adds 87 mΩ. Ferrite guides flux, raising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marL="0" indent="0">
              <a:lnSpc>
                <a:spcPts val="2900"/>
              </a:lnSpc>
              <a:spcBef>
                <a:spcPts val="0"/>
              </a:spcBef>
              <a:spcAft>
                <a:spcPts val="4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Symbols: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turns,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coil radius,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spacing;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into the dots;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jωL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+ 1/(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jωC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added in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conductivity;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4π × 10</a:t>
            </a:r>
            <a:r>
              <a:rPr sz="24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−7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H/m.</a:t>
            </a:r>
          </a:p>
        </p:txBody>
      </p:sp>
      <p:sp>
        <p:nvSpPr>
          <p:cNvPr id="17" name="S5 Analysis and Simulation panel"/>
          <p:cNvSpPr/>
          <p:nvPr/>
        </p:nvSpPr>
        <p:spPr>
          <a:xfrm>
            <a:off x="15468600" y="5232400"/>
            <a:ext cx="14147800" cy="18798476"/>
          </a:xfrm>
          <a:prstGeom prst="roundRect">
            <a:avLst>
              <a:gd name="adj" fmla="val 1615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5 Analysis and Simulation heading"/>
          <p:cNvSpPr txBox="1"/>
          <p:nvPr/>
        </p:nvSpPr>
        <p:spPr>
          <a:xfrm>
            <a:off x="15824200" y="5486400"/>
            <a:ext cx="13436600" cy="749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5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Analysis and Simulation</a:t>
            </a:r>
          </a:p>
        </p:txBody>
      </p:sp>
      <p:sp>
        <p:nvSpPr>
          <p:cNvPr id="20" name="S5 fig_k_vs_d caption"/>
          <p:cNvSpPr txBox="1"/>
          <p:nvPr/>
        </p:nvSpPr>
        <p:spPr>
          <a:xfrm>
            <a:off x="15824200" y="11232691"/>
            <a:ext cx="6527800" cy="736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Closed form and Neumann agree to ≤ 0.05 % (0.5–15 cm);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∝ 1/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30000">
                <a:solidFill>
                  <a:srgbClr val="1A1A1A"/>
                </a:solidFill>
                <a:latin typeface="Cambria"/>
              </a:rPr>
              <a:t>3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only for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≫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.</a:t>
            </a:r>
          </a:p>
        </p:txBody>
      </p:sp>
      <p:sp>
        <p:nvSpPr>
          <p:cNvPr id="22" name="S5 fig_eta_vs_d caption"/>
          <p:cNvSpPr txBox="1"/>
          <p:nvPr/>
        </p:nvSpPr>
        <p:spPr>
          <a:xfrm>
            <a:off x="22733000" y="11232691"/>
            <a:ext cx="6527800" cy="736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max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is 97 % at 1 cm, 86 % at 5 cm, 57 % at 10 cm; the fixed 6 Ω load gives 44 % at 10 cm.</a:t>
            </a:r>
          </a:p>
        </p:txBody>
      </p:sp>
      <p:sp>
        <p:nvSpPr>
          <p:cNvPr id="24" name="S5 fig_eta_vs_f caption"/>
          <p:cNvSpPr txBox="1"/>
          <p:nvPr/>
        </p:nvSpPr>
        <p:spPr>
          <a:xfrm>
            <a:off x="15824200" y="17004382"/>
            <a:ext cx="6527800" cy="736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At 2 and 5 cm the power peak splits in two; at 10 cm a single sharp peak sits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.</a:t>
            </a:r>
          </a:p>
        </p:txBody>
      </p:sp>
      <p:sp>
        <p:nvSpPr>
          <p:cNvPr id="26" name="S5 fig_eta_vs_RL caption"/>
          <p:cNvSpPr txBox="1"/>
          <p:nvPr/>
        </p:nvSpPr>
        <p:spPr>
          <a:xfrm>
            <a:off x="22733000" y="17004382"/>
            <a:ext cx="6527800" cy="736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The best load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√(1+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) moves with spacing; 6 Ω is best only at 5 cm.</a:t>
            </a:r>
          </a:p>
        </p:txBody>
      </p:sp>
      <p:sp>
        <p:nvSpPr>
          <p:cNvPr id="30" name="S5 setup box"/>
          <p:cNvSpPr txBox="1"/>
          <p:nvPr/>
        </p:nvSpPr>
        <p:spPr>
          <a:xfrm>
            <a:off x="24561800" y="18045782"/>
            <a:ext cx="4699000" cy="5143499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A5560"/>
                </a:solidFill>
                <a:latin typeface="Cambria"/>
              </a:rPr>
              <a:t>Setup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Planar spiral,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10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out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100 mm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wire 0.7 mm, pitch 1.0 mm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17.13 µH,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5.915 nF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500 kHz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0.455 Ω,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118.3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6.0 Ω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5 V peak,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</a:t>
            </a:r>
          </a:p>
        </p:txBody>
      </p:sp>
      <p:sp>
        <p:nvSpPr>
          <p:cNvPr id="31" name="S6 Demonstration panel"/>
          <p:cNvSpPr/>
          <p:nvPr/>
        </p:nvSpPr>
        <p:spPr>
          <a:xfrm>
            <a:off x="15468600" y="24437276"/>
            <a:ext cx="14147800" cy="9250934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6 Demonstration heading"/>
          <p:cNvSpPr txBox="1"/>
          <p:nvPr/>
        </p:nvSpPr>
        <p:spPr>
          <a:xfrm>
            <a:off x="16211213" y="24689574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6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Demonstration: Model vs Model</a:t>
            </a:r>
          </a:p>
        </p:txBody>
      </p:sp>
      <p:sp>
        <p:nvSpPr>
          <p:cNvPr id="36" name="S7 Conclusion and References panel"/>
          <p:cNvSpPr/>
          <p:nvPr/>
        </p:nvSpPr>
        <p:spPr>
          <a:xfrm>
            <a:off x="15468600" y="34094610"/>
            <a:ext cx="14147800" cy="7779193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7 Conclusion and References heading"/>
          <p:cNvSpPr txBox="1"/>
          <p:nvPr/>
        </p:nvSpPr>
        <p:spPr>
          <a:xfrm>
            <a:off x="16211213" y="34346908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7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Conclusion and References</a:t>
            </a:r>
          </a:p>
        </p:txBody>
      </p:sp>
      <p:pic>
        <p:nvPicPr>
          <p:cNvPr id="40" name="S3 schematic" descr="fig_schematic.png"/>
          <p:cNvPicPr>
            <a:picLocks noChangeAspect="1"/>
          </p:cNvPicPr>
          <p:nvPr/>
        </p:nvPicPr>
        <p:blipFill>
          <a:blip r:embed="rId2"/>
          <a:srcRect t="14000" b="15000"/>
          <a:stretch>
            <a:fillRect/>
          </a:stretch>
        </p:blipFill>
        <p:spPr>
          <a:xfrm>
            <a:off x="2272334" y="18928842"/>
            <a:ext cx="10904278" cy="4688840"/>
          </a:xfrm>
          <a:prstGeom prst="rect">
            <a:avLst/>
          </a:prstGeom>
        </p:spPr>
      </p:pic>
      <p:sp>
        <p:nvSpPr>
          <p:cNvPr id="53" name="S5 field map caption"/>
          <p:cNvSpPr txBox="1"/>
          <p:nvPr/>
        </p:nvSpPr>
        <p:spPr>
          <a:xfrm>
            <a:off x="15824200" y="23240081"/>
            <a:ext cx="134366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mbria"/>
              </a:rPr>
              <a:t>|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| (µT) in the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–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plane: primary at 1 A, coil 2 at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= 3 cm.</a:t>
            </a:r>
          </a:p>
        </p:txBody>
      </p:sp>
      <p:pic>
        <p:nvPicPr>
          <p:cNvPr id="59" name="S5 fig_k_vs_d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24200" y="6451600"/>
            <a:ext cx="6527800" cy="4730291"/>
          </a:xfrm>
          <a:prstGeom prst="rect">
            <a:avLst/>
          </a:prstGeom>
        </p:spPr>
      </p:pic>
      <p:pic>
        <p:nvPicPr>
          <p:cNvPr id="60" name="S5 fig_eta_vs_d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733000" y="6451600"/>
            <a:ext cx="6527800" cy="4730291"/>
          </a:xfrm>
          <a:prstGeom prst="rect">
            <a:avLst/>
          </a:prstGeom>
        </p:spPr>
      </p:pic>
      <p:pic>
        <p:nvPicPr>
          <p:cNvPr id="61" name="S5 fig_eta_vs_f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24200" y="12223291"/>
            <a:ext cx="6527800" cy="4730291"/>
          </a:xfrm>
          <a:prstGeom prst="rect">
            <a:avLst/>
          </a:prstGeom>
        </p:spPr>
      </p:pic>
      <p:pic>
        <p:nvPicPr>
          <p:cNvPr id="62" name="S5 fig_eta_vs_R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733000" y="12223291"/>
            <a:ext cx="6527800" cy="4730291"/>
          </a:xfrm>
          <a:prstGeom prst="rect">
            <a:avLst/>
          </a:prstGeom>
        </p:spPr>
      </p:pic>
      <p:pic>
        <p:nvPicPr>
          <p:cNvPr id="63" name="S5 field map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824200" y="18045782"/>
            <a:ext cx="8382000" cy="5143499"/>
          </a:xfrm>
          <a:prstGeom prst="rect">
            <a:avLst/>
          </a:prstGeom>
        </p:spPr>
      </p:pic>
      <p:pic>
        <p:nvPicPr>
          <p:cNvPr id="65" name="QR code" descr="qr_public_rep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148284" y="1263650"/>
            <a:ext cx="2921000" cy="2921000"/>
          </a:xfrm>
          <a:prstGeom prst="rect">
            <a:avLst/>
          </a:prstGeom>
        </p:spPr>
      </p:pic>
      <p:sp>
        <p:nvSpPr>
          <p:cNvPr id="66" name="S6 bullets"/>
          <p:cNvSpPr txBox="1"/>
          <p:nvPr/>
        </p:nvSpPr>
        <p:spPr>
          <a:xfrm>
            <a:off x="16210709" y="25611391"/>
            <a:ext cx="1266444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1" i="0">
                <a:solidFill>
                  <a:srgbClr val="1A1A1A"/>
                </a:solidFill>
                <a:latin typeface="Cambria"/>
              </a:rPr>
              <a:t>Validation chain: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closed form ↔ Python Neumann sum + 2 × 2 phasor solver ↔ LTspice sim/wpt.asc. LTspice agrees with the solver to 5 × 10</a:t>
            </a:r>
            <a:r>
              <a:rPr sz="2400" b="0" i="0" baseline="30000">
                <a:solidFill>
                  <a:srgbClr val="1A1A1A"/>
                </a:solidFill>
                <a:latin typeface="Cambria"/>
              </a:rPr>
              <a:t>−10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% (2, 5, 10 cm, 350–650 kHz).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Faraday in time: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−j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and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+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is real, so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lags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by 90°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/4 = 0.50 µs).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Light-load peaks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±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(eq. 5) give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within 0.3 % at 1, 2, 5 cm (5 cm: 474.4 / 530.3 kHz → 0.1109).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1" i="0">
                <a:solidFill>
                  <a:srgbClr val="1A1A1A"/>
                </a:solidFill>
                <a:latin typeface="Cambria"/>
              </a:rPr>
              <a:t>Finding: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a 6 Ω load pulls them in (5 cm: 483.5 / 519.6 kHz →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0.072, 35 % low; 10 cm: 1 peak).</a:t>
            </a:r>
          </a:p>
        </p:txBody>
      </p:sp>
      <p:graphicFrame>
        <p:nvGraphicFramePr>
          <p:cNvPr id="67" name="S6 table"/>
          <p:cNvGraphicFramePr>
            <a:graphicFrameLocks noGrp="1"/>
          </p:cNvGraphicFramePr>
          <p:nvPr/>
        </p:nvGraphicFramePr>
        <p:xfrm>
          <a:off x="16210709" y="27741943"/>
          <a:ext cx="1266444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822960"/>
                <a:gridCol w="2103120"/>
                <a:gridCol w="1188720"/>
                <a:gridCol w="1691640"/>
                <a:gridCol w="4937760"/>
              </a:tblGrid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d (cm)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M (µH)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ηmax (RL,opt)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η at 6 Ω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PL at 6 Ω (W)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8.79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96.8 % (27.6 Ω)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92.6 %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3.72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0.217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92.5 % (11.7 Ω)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91.0 %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1.90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0.111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85.9 % (6.00 Ω)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85.9 %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1.79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over-coupled; design point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57.2 % (1.67 Ω)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43.5 %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6.36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near critical (k &lt; kc)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</a:tr>
            </a:tbl>
          </a:graphicData>
        </a:graphic>
      </p:graphicFrame>
      <p:sp>
        <p:nvSpPr>
          <p:cNvPr id="68" name="S6 notes"/>
          <p:cNvSpPr txBox="1"/>
          <p:nvPr/>
        </p:nvSpPr>
        <p:spPr>
          <a:xfrm>
            <a:off x="16210709" y="29662183"/>
            <a:ext cx="1266444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5 V pk,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0,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0.455 Ω; regime from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c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0.0318 (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6 Ω,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0).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: closed form vs Neumann agree to ≤ 0.05 % (0.5–15 cm).</a:t>
            </a:r>
          </a:p>
        </p:txBody>
      </p:sp>
      <p:pic>
        <p:nvPicPr>
          <p:cNvPr id="69" name="S6 figur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10709" y="30274831"/>
            <a:ext cx="12664440" cy="2514600"/>
          </a:xfrm>
          <a:prstGeom prst="rect">
            <a:avLst/>
          </a:prstGeom>
        </p:spPr>
      </p:pic>
      <p:sp>
        <p:nvSpPr>
          <p:cNvPr id="70" name="S6 caption"/>
          <p:cNvSpPr txBox="1"/>
          <p:nvPr/>
        </p:nvSpPr>
        <p:spPr>
          <a:xfrm>
            <a:off x="16210709" y="32835151"/>
            <a:ext cx="126644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mbria"/>
              </a:rPr>
              <a:t>(a) Model chain. (b)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(W) vs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(kHz) at 2, 5, 10 cm,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= 6 Ω; markers: LTspice; dotted lines: light-load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±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at 5 cm. (c)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,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(A) vs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(µs), 5 cm: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lags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by 90°. Read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only from light-load peaks.</a:t>
            </a:r>
          </a:p>
        </p:txBody>
      </p:sp>
      <p:sp>
        <p:nvSpPr>
          <p:cNvPr id="71" name="S7 body"/>
          <p:cNvSpPr txBox="1"/>
          <p:nvPr/>
        </p:nvSpPr>
        <p:spPr>
          <a:xfrm>
            <a:off x="16210709" y="35225926"/>
            <a:ext cx="12664440" cy="5303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C8432B"/>
                </a:solidFill>
                <a:latin typeface="Cambria"/>
              </a:rPr>
              <a:t>Key findings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118.3: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max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96.8 % at 1 cm, 85.9 % at 5 cm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6.0 Ω), 57.2 % at 10 cm.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Max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≠ max power: at 5 cm,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6.0 Ω, but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79.1 Ω gives the most power.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C8432B"/>
                </a:solidFill>
                <a:latin typeface="Cambria"/>
              </a:rPr>
              <a:t>Limitations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Range: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∝ 1/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30000">
                <a:solidFill>
                  <a:srgbClr val="1A1A1A"/>
                </a:solidFill>
                <a:latin typeface="Cambria"/>
              </a:rPr>
              <a:t>3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only for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≫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(log-log slope −2.1 at 8–10 cm, −2.97 at 50–100 cm).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AC loss: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dc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0.13 → 0.455 Ω (skin 0.269, prox. 0.136, ESR 0.035, joints 0.015); range 0.38–0.48 Ω.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Misalignment (3 cm):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91.1 / 88.8 / 84.2 % at Δ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2 / 3 / 4 cm;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 at 8.22 cm, then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&lt; 0.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Al plate 5 mm behind coil 2: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−56.4 %,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+178 mΩ,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−51 %; ferrite: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+34.5 %.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(3 cm): 92.5 → 24.0 % (63.9 % with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retuned).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Stress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0):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C1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44.8 / 314 V pk at 5 / 10 cm;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≤ 11.0 A pk, 27.5 W (50 Ω source: 0.1 A). Field: 82.3 µT rms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0, &lt; 27 µT rms (ICNIRP 2010) beyond 4.7 cm, &lt; 1.84 beyond 15.4 cm.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1A1A1A"/>
                </a:solidFill>
                <a:latin typeface="Cambria"/>
              </a:rPr>
              <a:t>Future work: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build and measure a prototype; ferrite backing; adaptive frequency tuning [2].</a:t>
            </a:r>
          </a:p>
        </p:txBody>
      </p:sp>
      <p:sp>
        <p:nvSpPr>
          <p:cNvPr id="72" name="S7 references"/>
          <p:cNvSpPr txBox="1"/>
          <p:nvPr/>
        </p:nvSpPr>
        <p:spPr>
          <a:xfrm>
            <a:off x="16210709" y="40321166"/>
            <a:ext cx="1266444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mbria"/>
              </a:rPr>
              <a:t>[1] A. Kurs et al., Science, vol. 317, no. 5834, pp. 83–86, 2007.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mbria"/>
              </a:rPr>
              <a:t>[2] A. P. Sample, D. A. Meyer, and J. R. Smith, IEEE Trans. Ind. Electron., vol. 58, no. 2, pp. 544–554, 2011.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mbria"/>
              </a:rPr>
              <a:t>[3] S. Y. R. Hui, W. Zhong, and C. K. Lee, IEEE Trans. Power Electron., vol. 29, no. 9, pp. 4500–4511, 2014.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mbria"/>
              </a:rPr>
              <a:t>[4] R. K. Shevgaonkar, Electromagnetic Waves. New Delhi: Tata McGraw-Hill, 2006.</a:t>
            </a:r>
          </a:p>
        </p:txBody>
      </p:sp>
      <p:pic>
        <p:nvPicPr>
          <p:cNvPr id="73" name="Logo" descr="team_logo_circl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6500" y="1263650"/>
            <a:ext cx="2921000" cy="292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Resonant WPT poster, EE2025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